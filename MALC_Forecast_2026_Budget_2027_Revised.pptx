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D2E6F1"/>
                </a:solidFill>
                <a:latin typeface="Aptos"/>
              </a:defRPr>
            </a:pPr>
            <a:r>
              <a:t>MARIE ADELAIDE LEPROSY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424160" cy="12801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FORECAST 2026</a:t>
            </a:r>
          </a:p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&amp; BUDGET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784080" cy="6858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DCEBF3"/>
                </a:solidFill>
                <a:latin typeface="Aptos"/>
              </a:defRPr>
            </a:pPr>
            <a:r>
              <a:t>Financial overview, budget assumptions and key variances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97880"/>
            <a:ext cx="98755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Budget period: 1 January – 31 December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263640"/>
            <a:ext cx="9875520" cy="22860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CDDCE6"/>
                </a:solidFill>
                <a:latin typeface="Aptos"/>
              </a:defRPr>
            </a:pPr>
            <a:r>
              <a:t>Prepared for review | Based on supplied budget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F4E79"/>
                </a:solidFill>
                <a:latin typeface="Aptos"/>
              </a:defRPr>
            </a:pPr>
            <a:r>
              <a:t>Budget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46E78"/>
                </a:solidFill>
                <a:latin typeface="Aptos"/>
              </a:defRPr>
            </a:pPr>
            <a:r>
              <a:t>2026 forecast compared with 2027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46E7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606040" cy="1600200"/>
          </a:xfrm>
          <a:prstGeom prst="roundRect">
            <a:avLst/>
          </a:prstGeom>
          <a:solidFill>
            <a:srgbClr val="EBF3F8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828800"/>
            <a:ext cx="2276856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646E78"/>
                </a:solidFill>
                <a:latin typeface="Aptos"/>
              </a:defRPr>
            </a:pPr>
            <a:r>
              <a:t>2027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67128"/>
            <a:ext cx="2276856" cy="4389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3470A4"/>
                </a:solidFill>
                <a:latin typeface="Aptos"/>
              </a:defRPr>
            </a:pPr>
            <a:r>
              <a:rPr dirty="0"/>
              <a:t>PKR 1,253.83m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642616"/>
            <a:ext cx="2276856" cy="594359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2D343B"/>
                </a:solidFill>
                <a:latin typeface="Aptos"/>
              </a:defRPr>
            </a:pPr>
            <a:r>
              <a:t>+11% vs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91640"/>
            <a:ext cx="2606040" cy="1600200"/>
          </a:xfrm>
          <a:prstGeom prst="roundRect">
            <a:avLst/>
          </a:prstGeom>
          <a:solidFill>
            <a:srgbClr val="EBF3F8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93592" y="1828800"/>
            <a:ext cx="2276856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646E78"/>
                </a:solidFill>
                <a:latin typeface="Aptos"/>
              </a:defRPr>
            </a:pPr>
            <a:r>
              <a:t>2027 EXPENDITURE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167128"/>
            <a:ext cx="2276856" cy="4389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DC8237"/>
                </a:solidFill>
                <a:latin typeface="Aptos"/>
              </a:defRPr>
            </a:pPr>
            <a:r>
              <a:rPr dirty="0"/>
              <a:t>PKR 1,252.44m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642616"/>
            <a:ext cx="2276856" cy="594359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2D343B"/>
                </a:solidFill>
                <a:latin typeface="Aptos"/>
              </a:defRPr>
            </a:pPr>
            <a:r>
              <a:t>+12% vs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2606040" cy="1600200"/>
          </a:xfrm>
          <a:prstGeom prst="roundRect">
            <a:avLst/>
          </a:prstGeom>
          <a:solidFill>
            <a:srgbClr val="EBF3F8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828800"/>
            <a:ext cx="2276856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646E78"/>
                </a:solidFill>
                <a:latin typeface="Aptos"/>
              </a:defRPr>
            </a:pPr>
            <a:r>
              <a:t>PROJECTED SURPLUS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167128"/>
            <a:ext cx="2276856" cy="4389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289196"/>
                </a:solidFill>
                <a:latin typeface="Aptos"/>
              </a:defRPr>
            </a:pPr>
            <a:r>
              <a:t>PKR 1.39m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642616"/>
            <a:ext cx="2276856" cy="594359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2D343B"/>
                </a:solidFill>
                <a:latin typeface="Aptos"/>
              </a:defRPr>
            </a:pPr>
            <a:r>
              <a:t>2027 budget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691640"/>
            <a:ext cx="2514600" cy="1600200"/>
          </a:xfrm>
          <a:prstGeom prst="roundRect">
            <a:avLst/>
          </a:prstGeom>
          <a:solidFill>
            <a:srgbClr val="EBF3F8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71432" y="1828800"/>
            <a:ext cx="2185416" cy="2743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646E78"/>
                </a:solidFill>
                <a:latin typeface="Aptos"/>
              </a:defRPr>
            </a:pPr>
            <a:r>
              <a:t>2026 FORECAST SURPLUS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167128"/>
            <a:ext cx="2185416" cy="43891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F4E79"/>
                </a:solidFill>
                <a:latin typeface="Aptos"/>
              </a:defRPr>
            </a:pPr>
            <a:r>
              <a:t>PKR 11.51m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2642616"/>
            <a:ext cx="2185416" cy="594359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2D343B"/>
                </a:solidFill>
                <a:latin typeface="Aptos"/>
              </a:defRPr>
            </a:pPr>
            <a:r>
              <a:t>Prior-year forecast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1078992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F4E79"/>
                </a:solidFill>
                <a:latin typeface="Aptos"/>
              </a:defRPr>
            </a:pPr>
            <a:r>
              <a:t>Key message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43400"/>
            <a:ext cx="10698480" cy="10515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2D343B"/>
                </a:solidFill>
                <a:latin typeface="Aptos"/>
              </a:defRPr>
            </a:pPr>
            <a:r>
              <a:rPr dirty="0"/>
              <a:t>Revenue is projected to grow by PKR 127.35m, while expenditure is projected to rise by PKR 137.47m. The resulting surplus narrows to PKR 1.39m, making regular budget monitoring important.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646E78"/>
                </a:solidFill>
                <a:latin typeface="Aptos"/>
              </a:defRPr>
            </a:pPr>
            <a:r>
              <a:t>MARIE ADELAIDE LEPROSY CENTRE  |  FORECAST 2026 &amp; BUDGET 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F4E79"/>
                </a:solidFill>
                <a:latin typeface="Aptos"/>
              </a:defRPr>
            </a:pPr>
            <a:r>
              <a:t>Revenue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46E78"/>
                </a:solidFill>
                <a:latin typeface="Aptos"/>
              </a:defRPr>
            </a:pPr>
            <a:r>
              <a:t>Revenue mix and year-on-year movement (PKR million)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46E78"/>
                </a:solidFill>
                <a:latin typeface="Aptos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91640"/>
          <a:ext cx="107899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517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Revenue stream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2026 forecast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2027 budget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% change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Government of Sindh / DEPD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491.20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572.30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+81.10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+17%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Foreign donations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428.81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465.34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+36.53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+9%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Local donations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122.63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125.59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+2.96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+2%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Zakat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41.23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50.00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+8.77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+21%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Other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42.61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40.60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−2.01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−5%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17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EB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t>1,126.48</a:t>
                      </a:r>
                    </a:p>
                  </a:txBody>
                  <a:tcPr>
                    <a:solidFill>
                      <a:srgbClr val="EB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t>1,253.83</a:t>
                      </a:r>
                    </a:p>
                  </a:txBody>
                  <a:tcPr>
                    <a:solidFill>
                      <a:srgbClr val="EB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t>+127.35</a:t>
                      </a:r>
                    </a:p>
                  </a:txBody>
                  <a:tcPr>
                    <a:solidFill>
                      <a:srgbClr val="EB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t>+11%</a:t>
                      </a:r>
                    </a:p>
                  </a:txBody>
                  <a:tcPr>
                    <a:solidFill>
                      <a:srgbClr val="EB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715000"/>
            <a:ext cx="10698480" cy="4114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646E78"/>
                </a:solidFill>
                <a:latin typeface="Aptos"/>
              </a:defRPr>
            </a:pPr>
            <a:r>
              <a:t>Government funding remains the largest projected revenue source, accounting for approximately 46% of 2027 revenue.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646E78"/>
                </a:solidFill>
                <a:latin typeface="Aptos"/>
              </a:defRPr>
            </a:pPr>
            <a:r>
              <a:t>MARIE ADELAIDE LEPROSY CENTRE  |  FORECAST 2026 &amp; BUDGET 2027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F4E79"/>
                </a:solidFill>
                <a:latin typeface="Aptos"/>
              </a:defRPr>
            </a:pPr>
            <a:r>
              <a:t>Revenue Assumptions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46E78"/>
                </a:solidFill>
                <a:latin typeface="Aptos"/>
              </a:defRPr>
            </a:pPr>
            <a:r>
              <a:t>Main drivers behind the 2027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46E7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21208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F4E79"/>
                </a:solidFill>
                <a:latin typeface="Aptos"/>
              </a:defRPr>
            </a:pPr>
            <a:r>
              <a:t>Foreign donations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166360" cy="1325880"/>
          </a:xfrm>
          <a:prstGeom prst="rect">
            <a:avLst/>
          </a:prstGeom>
          <a:noFill/>
        </p:spPr>
        <p:txBody>
          <a:bodyPr wrap="square" lIns="36576" rIns="4572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D343B"/>
                </a:solidFill>
                <a:latin typeface="Aptos"/>
              </a:defRPr>
            </a:pPr>
            <a:r>
              <a:t>Budgeted at PKR 465.34m (+9%).</a:t>
            </a:r>
          </a:p>
          <a:p>
            <a:pPr>
              <a:spcAft>
                <a:spcPts val="1200"/>
              </a:spcAft>
              <a:defRPr sz="1300">
                <a:solidFill>
                  <a:srgbClr val="2D343B"/>
                </a:solidFill>
                <a:latin typeface="Aptos"/>
              </a:defRPr>
            </a:pPr>
            <a:r>
              <a:t>Increase linked to anticipated project activities and donor funding, including CBM, Fred Hollows Foundation and WHO.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21208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F4E79"/>
                </a:solidFill>
                <a:latin typeface="Aptos"/>
              </a:defRPr>
            </a:pPr>
            <a:r>
              <a:t>Local donations and Zakat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011680"/>
            <a:ext cx="5120640" cy="1325880"/>
          </a:xfrm>
          <a:prstGeom prst="rect">
            <a:avLst/>
          </a:prstGeom>
          <a:noFill/>
        </p:spPr>
        <p:txBody>
          <a:bodyPr wrap="square" lIns="36576" rIns="4572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D343B"/>
                </a:solidFill>
                <a:latin typeface="Aptos"/>
              </a:defRPr>
            </a:pPr>
            <a:r>
              <a:t>Local donations: PKR 125.59m (+2%).</a:t>
            </a:r>
          </a:p>
          <a:p>
            <a:pPr>
              <a:spcAft>
                <a:spcPts val="1200"/>
              </a:spcAft>
              <a:defRPr sz="1300">
                <a:solidFill>
                  <a:srgbClr val="2D343B"/>
                </a:solidFill>
                <a:latin typeface="Aptos"/>
              </a:defRPr>
            </a:pPr>
            <a:r>
              <a:t>Zakat target: PKR 50m (+21%); requires focused fundraising and donor engagement.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521208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F4E79"/>
                </a:solidFill>
                <a:latin typeface="Aptos"/>
              </a:defRPr>
            </a:pPr>
            <a:r>
              <a:t>Government grants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5166360" cy="1234440"/>
          </a:xfrm>
          <a:prstGeom prst="rect">
            <a:avLst/>
          </a:prstGeom>
          <a:noFill/>
        </p:spPr>
        <p:txBody>
          <a:bodyPr wrap="square" lIns="36576" rIns="4572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D343B"/>
                </a:solidFill>
                <a:latin typeface="Aptos"/>
              </a:defRPr>
            </a:pPr>
            <a:r>
              <a:t>Projected at PKR 572.30m (+17%).</a:t>
            </a:r>
          </a:p>
          <a:p>
            <a:pPr>
              <a:spcAft>
                <a:spcPts val="1200"/>
              </a:spcAft>
              <a:defRPr sz="1300">
                <a:solidFill>
                  <a:srgbClr val="2D343B"/>
                </a:solidFill>
                <a:latin typeface="Aptos"/>
              </a:defRPr>
            </a:pPr>
            <a:r>
              <a:t>Includes Government of Sindh at PKR 250m and DEPD at PKR 321.80m.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749039"/>
            <a:ext cx="521208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F4E79"/>
                </a:solidFill>
                <a:latin typeface="Aptos"/>
              </a:defRPr>
            </a:pPr>
            <a:r>
              <a:t>Other income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160520"/>
            <a:ext cx="5120640" cy="1234440"/>
          </a:xfrm>
          <a:prstGeom prst="rect">
            <a:avLst/>
          </a:prstGeom>
          <a:noFill/>
        </p:spPr>
        <p:txBody>
          <a:bodyPr wrap="square" lIns="36576" rIns="4572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D343B"/>
                </a:solidFill>
                <a:latin typeface="Aptos"/>
              </a:defRPr>
            </a:pPr>
            <a:r>
              <a:t>Projected at PKR 40.60m (−5%).</a:t>
            </a:r>
          </a:p>
          <a:p>
            <a:pPr>
              <a:spcAft>
                <a:spcPts val="1200"/>
              </a:spcAft>
              <a:defRPr sz="1300">
                <a:solidFill>
                  <a:srgbClr val="2D343B"/>
                </a:solidFill>
                <a:latin typeface="Aptos"/>
              </a:defRPr>
            </a:pPr>
            <a:r>
              <a:t>Includes bank interest, patient contributions, asset disposals and miscellaneous receipts.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646E78"/>
                </a:solidFill>
                <a:latin typeface="Aptos"/>
              </a:defRPr>
            </a:pPr>
            <a:r>
              <a:t>MARIE ADELAIDE LEPROSY CENTRE  |  FORECAST 2026 &amp; BUDGET 2027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F4E79"/>
                </a:solidFill>
                <a:latin typeface="Aptos"/>
              </a:defRPr>
            </a:pPr>
            <a:r>
              <a:t>Expenditure Budget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46E78"/>
                </a:solidFill>
                <a:latin typeface="Aptos"/>
              </a:defRPr>
            </a:pPr>
            <a:r>
              <a:t>2026 forecast compared with 2027 budget (PKR million)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46E78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91640"/>
          <a:ext cx="107899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Expenditure 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2026 forecast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2027 budget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% change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Salaries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445.29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528.09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+82.80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+19%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Operational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551.95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603.55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+51.60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+9%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Capital expenditure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56.39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59.09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+2.69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+5%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Administration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61.34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61.71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+0.38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43B"/>
                          </a:solidFill>
                        </a:defRPr>
                      </a:pPr>
                      <a:r>
                        <a:t>+1%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t>TOTAL EXPENDITURE</a:t>
                      </a:r>
                    </a:p>
                  </a:txBody>
                  <a:tcPr>
                    <a:solidFill>
                      <a:srgbClr val="EB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t>1,114.97</a:t>
                      </a:r>
                    </a:p>
                  </a:txBody>
                  <a:tcPr>
                    <a:solidFill>
                      <a:srgbClr val="EB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t>1,252.44</a:t>
                      </a:r>
                    </a:p>
                  </a:txBody>
                  <a:tcPr>
                    <a:solidFill>
                      <a:srgbClr val="EB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t>+137.47</a:t>
                      </a:r>
                    </a:p>
                  </a:txBody>
                  <a:tcPr>
                    <a:solidFill>
                      <a:srgbClr val="EB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4E79"/>
                          </a:solidFill>
                        </a:defRPr>
                      </a:pPr>
                      <a:r>
                        <a:rPr dirty="0"/>
                        <a:t>+12%</a:t>
                      </a:r>
                    </a:p>
                  </a:txBody>
                  <a:tcPr>
                    <a:solidFill>
                      <a:srgbClr val="EB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2D343B"/>
                </a:solidFill>
                <a:latin typeface="Aptos"/>
              </a:defRPr>
            </a:pPr>
            <a:r>
              <a:t>Salaries and operational expenses together account for the majority of planned expenditure and are the main drivers of the increase.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646E78"/>
                </a:solidFill>
                <a:latin typeface="Aptos"/>
              </a:defRPr>
            </a:pPr>
            <a:r>
              <a:t>MARIE ADELAIDE LEPROSY CENTRE  |  FORECAST 2026 &amp; BUDGET 2027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F4E79"/>
                </a:solidFill>
                <a:latin typeface="Aptos"/>
              </a:defRPr>
            </a:pPr>
            <a:r>
              <a:t>What Is Driving Expenditure?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46E78"/>
                </a:solidFill>
                <a:latin typeface="Aptos"/>
              </a:defRPr>
            </a:pPr>
            <a:r>
              <a:t>Budget assumptions for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46E78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1645920"/>
          </a:xfrm>
          <a:prstGeom prst="roundRect">
            <a:avLst/>
          </a:prstGeom>
          <a:solidFill>
            <a:srgbClr val="EBF3F8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F4E79"/>
                </a:solidFill>
                <a:latin typeface="Aptos"/>
              </a:defRPr>
            </a:pPr>
            <a:r>
              <a:t>Salaries &amp; staff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463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289196"/>
                </a:solidFill>
                <a:latin typeface="Aptos"/>
              </a:defRPr>
            </a:pPr>
            <a:r>
              <a:t>PKR 528.09m | +19%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006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2D343B"/>
                </a:solidFill>
                <a:latin typeface="Aptos"/>
              </a:defRPr>
            </a:pPr>
            <a:r>
              <a:t>Proposed 12% salary adjustment and additional recruitment for new projects.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212080" cy="1645920"/>
          </a:xfrm>
          <a:prstGeom prst="roundRect">
            <a:avLst/>
          </a:prstGeom>
          <a:solidFill>
            <a:srgbClr val="EBF3F8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48463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F4E79"/>
                </a:solidFill>
                <a:latin typeface="Aptos"/>
              </a:defRPr>
            </a:pPr>
            <a:r>
              <a:t>Operational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03120"/>
            <a:ext cx="48463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289196"/>
                </a:solidFill>
                <a:latin typeface="Aptos"/>
              </a:defRPr>
            </a:pPr>
            <a:r>
              <a:t>PKR 603.55m | +9%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68880"/>
            <a:ext cx="48006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2D343B"/>
                </a:solidFill>
                <a:latin typeface="Aptos"/>
              </a:defRPr>
            </a:pPr>
            <a:r>
              <a:t>Expanded CBM and DEPD activities, medical supplies and anticipated inflation.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212080" cy="1645920"/>
          </a:xfrm>
          <a:prstGeom prst="roundRect">
            <a:avLst/>
          </a:prstGeom>
          <a:solidFill>
            <a:srgbClr val="EBF3F8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48463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F4E79"/>
                </a:solidFill>
                <a:latin typeface="Aptos"/>
              </a:defRPr>
            </a:pPr>
            <a:r>
              <a:t>Capital expenditure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8463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289196"/>
                </a:solidFill>
                <a:latin typeface="Aptos"/>
              </a:defRPr>
            </a:pPr>
            <a:r>
              <a:t>PKR 59.09m | +5%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48006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2D343B"/>
                </a:solidFill>
                <a:latin typeface="Aptos"/>
              </a:defRPr>
            </a:pPr>
            <a:r>
              <a:t>Medical equipment and office equipment, partly offset by lower vehicle allocation.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657600"/>
            <a:ext cx="5212080" cy="1645920"/>
          </a:xfrm>
          <a:prstGeom prst="roundRect">
            <a:avLst/>
          </a:prstGeom>
          <a:solidFill>
            <a:srgbClr val="EBF3F8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794760"/>
            <a:ext cx="48463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F4E79"/>
                </a:solidFill>
                <a:latin typeface="Aptos"/>
              </a:defRPr>
            </a:pPr>
            <a:r>
              <a:t>Administration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160520"/>
            <a:ext cx="484632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289196"/>
                </a:solidFill>
                <a:latin typeface="Aptos"/>
              </a:defRPr>
            </a:pPr>
            <a:r>
              <a:t>PKR 61.71m | +1%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526280"/>
            <a:ext cx="4800600" cy="5943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2D343B"/>
                </a:solidFill>
                <a:latin typeface="Aptos"/>
              </a:defRPr>
            </a:pPr>
            <a:r>
              <a:t>Higher audit fees and depreciation, partly offset by lower office expenses.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646E78"/>
                </a:solidFill>
                <a:latin typeface="Aptos"/>
              </a:defRPr>
            </a:pPr>
            <a:r>
              <a:t>MARIE ADELAIDE LEPROSY CENTRE  |  FORECAST 2026 &amp; BUDGET 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F4E79"/>
                </a:solidFill>
                <a:latin typeface="Aptos"/>
              </a:defRPr>
            </a:pPr>
            <a:r>
              <a:t>Key Variances Requiring Attention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46E78"/>
                </a:solidFill>
                <a:latin typeface="Aptos"/>
              </a:defRPr>
            </a:pPr>
            <a:r>
              <a:t>Points to verify against the detailed schedules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46E78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98480" cy="4480560"/>
          </a:xfrm>
          <a:prstGeom prst="rect">
            <a:avLst/>
          </a:prstGeom>
          <a:noFill/>
        </p:spPr>
        <p:txBody>
          <a:bodyPr wrap="square" lIns="36576" rIns="4572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343B"/>
                </a:solidFill>
                <a:latin typeface="Aptos"/>
              </a:defRPr>
            </a:pPr>
            <a:r>
              <a:t>Salary narrative on page 4 states a 16% increase / PKR 59.2m, while the table shows PKR 82.80m (approximately 19%).</a:t>
            </a:r>
          </a:p>
          <a:p>
            <a:pPr>
              <a:spcAft>
                <a:spcPts val="1200"/>
              </a:spcAft>
              <a:defRPr sz="1500">
                <a:solidFill>
                  <a:srgbClr val="2D343B"/>
                </a:solidFill>
                <a:latin typeface="Aptos"/>
              </a:defRPr>
            </a:pPr>
            <a:r>
              <a:t>Operational and administration narratives on page 5 refer to 2026 in places, although the section concerns the 2027 budget.</a:t>
            </a:r>
          </a:p>
          <a:p>
            <a:pPr>
              <a:spcAft>
                <a:spcPts val="1200"/>
              </a:spcAft>
              <a:defRPr sz="1500">
                <a:solidFill>
                  <a:srgbClr val="2D343B"/>
                </a:solidFill>
                <a:latin typeface="Aptos"/>
              </a:defRPr>
            </a:pPr>
            <a:r>
              <a:t>Detailed expenditure variance totals should be reconciled with the overall increase of PKR 137.47m.</a:t>
            </a:r>
          </a:p>
          <a:p>
            <a:pPr>
              <a:spcAft>
                <a:spcPts val="1200"/>
              </a:spcAft>
              <a:defRPr sz="1500">
                <a:solidFill>
                  <a:srgbClr val="2D343B"/>
                </a:solidFill>
                <a:latin typeface="Aptos"/>
              </a:defRPr>
            </a:pPr>
            <a:r>
              <a:t>Some receipt variance percentages show #DIV/0! where the 2026 comparison value is zero or blank.</a:t>
            </a:r>
          </a:p>
          <a:p>
            <a:pPr>
              <a:spcAft>
                <a:spcPts val="1200"/>
              </a:spcAft>
              <a:defRPr sz="1500">
                <a:solidFill>
                  <a:srgbClr val="2D343B"/>
                </a:solidFill>
                <a:latin typeface="Aptos"/>
              </a:defRPr>
            </a:pPr>
            <a:r>
              <a:t>Capital expenditure increases by approximately 5%, but the detailed table appears to show 0% for the total.</a:t>
            </a:r>
          </a:p>
          <a:p>
            <a:pPr>
              <a:spcAft>
                <a:spcPts val="1200"/>
              </a:spcAft>
              <a:defRPr sz="1500">
                <a:solidFill>
                  <a:srgbClr val="2D343B"/>
                </a:solidFill>
                <a:latin typeface="Aptos"/>
              </a:defRPr>
            </a:pPr>
            <a:r>
              <a:t>The 2026 utilisation tables should be reconciled against approved annual budgets and actual-to-date figures.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646E78"/>
                </a:solidFill>
                <a:latin typeface="Aptos"/>
              </a:defRPr>
            </a:pPr>
            <a:r>
              <a:t>MARIE ADELAIDE LEPROSY CENTRE  |  FORECAST 2026 &amp; BUDGET 2027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2600" b="1">
                <a:solidFill>
                  <a:srgbClr val="1F4E79"/>
                </a:solidFill>
                <a:latin typeface="Aptos"/>
              </a:defRPr>
            </a:pPr>
            <a:r>
              <a:t>Recommended Management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960120" cy="54864"/>
          </a:xfrm>
          <a:prstGeom prst="rect">
            <a:avLst/>
          </a:prstGeom>
          <a:solidFill>
            <a:srgbClr val="28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972800" cy="347472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46E78"/>
                </a:solidFill>
                <a:latin typeface="Aptos"/>
              </a:defRPr>
            </a:pPr>
            <a:r>
              <a:t>For finance-team review before final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646E7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297680"/>
          </a:xfrm>
          <a:prstGeom prst="rect">
            <a:avLst/>
          </a:prstGeom>
          <a:noFill/>
        </p:spPr>
        <p:txBody>
          <a:bodyPr wrap="square" lIns="36576" rIns="4572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343B"/>
                </a:solidFill>
                <a:latin typeface="Aptos"/>
              </a:defRPr>
            </a:pPr>
            <a:r>
              <a:t>Confirm all donor and government funding projections against written commitments and approved allocations.</a:t>
            </a:r>
          </a:p>
          <a:p>
            <a:pPr>
              <a:spcAft>
                <a:spcPts val="1200"/>
              </a:spcAft>
              <a:defRPr sz="1700">
                <a:solidFill>
                  <a:srgbClr val="2D343B"/>
                </a:solidFill>
                <a:latin typeface="Aptos"/>
              </a:defRPr>
            </a:pPr>
            <a:r>
              <a:t>Reconcile totals and percentage formulas across the executive summary and detailed variance tables.</a:t>
            </a:r>
          </a:p>
          <a:p>
            <a:pPr>
              <a:spcAft>
                <a:spcPts val="1200"/>
              </a:spcAft>
              <a:defRPr sz="1700">
                <a:solidFill>
                  <a:srgbClr val="2D343B"/>
                </a:solidFill>
                <a:latin typeface="Aptos"/>
              </a:defRPr>
            </a:pPr>
            <a:r>
              <a:t>Monitor salary and operational expenditure against approved staffing plans and project implementation.</a:t>
            </a:r>
          </a:p>
          <a:p>
            <a:pPr>
              <a:spcAft>
                <a:spcPts val="1200"/>
              </a:spcAft>
              <a:defRPr sz="1700">
                <a:solidFill>
                  <a:srgbClr val="2D343B"/>
                </a:solidFill>
                <a:latin typeface="Aptos"/>
              </a:defRPr>
            </a:pPr>
            <a:r>
              <a:t>Review receipts and payments periodically and investigate material variances.</a:t>
            </a:r>
          </a:p>
          <a:p>
            <a:pPr>
              <a:spcAft>
                <a:spcPts val="1200"/>
              </a:spcAft>
              <a:defRPr sz="1700">
                <a:solidFill>
                  <a:srgbClr val="2D343B"/>
                </a:solidFill>
                <a:latin typeface="Aptos"/>
              </a:defRPr>
            </a:pPr>
            <a:r>
              <a:t>Maintain appropriate procurement, asset management, audit and financial reporting controls.</a:t>
            </a:r>
          </a:p>
          <a:p>
            <a:pPr>
              <a:spcAft>
                <a:spcPts val="1200"/>
              </a:spcAft>
              <a:defRPr sz="1700">
                <a:solidFill>
                  <a:srgbClr val="2D343B"/>
                </a:solidFill>
                <a:latin typeface="Aptos"/>
              </a:defRPr>
            </a:pPr>
            <a:r>
              <a:t>Update the final report only after the Director Finance confirms the underlying figures.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646E78"/>
                </a:solidFill>
                <a:latin typeface="Aptos"/>
              </a:defRPr>
            </a:pPr>
            <a:r>
              <a:t>MARIE ADELAIDE LEPROSY CENTRE  |  FORECAST 2026 &amp; BUDGET 2027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143000"/>
            <a:ext cx="10424160" cy="64008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D2E6F1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241280" cy="10058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A growth budget with a narrow projected surplus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00400"/>
            <a:ext cx="9875520" cy="128016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E6F0F6"/>
                </a:solidFill>
                <a:latin typeface="Aptos"/>
              </a:defRPr>
            </a:pPr>
            <a:r>
              <a:t>2027 revenue is projected at PKR 1,253.83m and expenditure at PKR 1,252.44m, leaving a projected surplus of PKR 1.39m. Accurate projections, timely funding and disciplined expenditure monitoring will be important throughout the 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43600"/>
            <a:ext cx="9784080" cy="320040"/>
          </a:xfrm>
          <a:prstGeom prst="rect">
            <a:avLst/>
          </a:prstGeom>
          <a:noFill/>
        </p:spPr>
        <p:txBody>
          <a:bodyPr wrap="square" lIns="36576" tIns="27432" rIns="36576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CDDCE6"/>
                </a:solidFill>
                <a:latin typeface="Aptos"/>
              </a:defRPr>
            </a:pPr>
            <a:r>
              <a:t>MALC | Forecast 2026 &amp; Budget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832</Words>
  <Application>Microsoft Office PowerPoint</Application>
  <PresentationFormat>Widescreen</PresentationFormat>
  <Paragraphs>155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 nawaz</cp:lastModifiedBy>
  <cp:revision>1</cp:revision>
  <dcterms:created xsi:type="dcterms:W3CDTF">2013-01-27T09:14:16Z</dcterms:created>
  <dcterms:modified xsi:type="dcterms:W3CDTF">2026-10-17T04:15:32Z</dcterms:modified>
  <cp:category/>
</cp:coreProperties>
</file>